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25296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172A"/>
                </a:solidFill>
                <a:latin typeface="Arial"/>
              </a:defRPr>
            </a:pPr>
            <a:r>
              <a:t>The decision trail behind the retained dual-3090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86384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75569"/>
                </a:solidFill>
                <a:latin typeface="Arial"/>
              </a:defRPr>
            </a:pPr>
            <a:r>
              <a:t>Fit, client behavior, long-prefill decay, speculation, correctness and restoration each shaped the next experiment.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5059" y="1248156"/>
            <a:ext cx="2634386" cy="18882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3931" y="1385316"/>
            <a:ext cx="2395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01 / REAL WORKLOAD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931" y="1705356"/>
            <a:ext cx="239572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1">
                <a:solidFill>
                  <a:srgbClr val="0F172A"/>
                </a:solidFill>
                <a:latin typeface="Arial"/>
              </a:defRPr>
            </a:pPr>
            <a:r>
              <a:t>Start from the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3931" y="2171700"/>
            <a:ext cx="239572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Resume an existing task</a:t>
            </a:r>
          </a:p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Images, tools and follow-ups</a:t>
            </a:r>
          </a:p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Several sessions, one service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69971" y="2135124"/>
            <a:ext cx="219456" cy="10058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08299" y="1248156"/>
            <a:ext cx="2634386" cy="18882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7171" y="1385316"/>
            <a:ext cx="2395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02 / FIT AND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7171" y="1705356"/>
            <a:ext cx="239572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1">
                <a:solidFill>
                  <a:srgbClr val="0F172A"/>
                </a:solidFill>
                <a:latin typeface="Arial"/>
              </a:defRPr>
            </a:pPr>
            <a:r>
              <a:t>Check the GGUF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7171" y="2171700"/>
            <a:ext cx="239572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llama.cpp Q4_K_M trials</a:t>
            </a:r>
          </a:p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Near-1M configured limits</a:t>
            </a:r>
          </a:p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Allocation + tiny-input logs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33211" y="2135124"/>
            <a:ext cx="219456" cy="10058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1539" y="1248156"/>
            <a:ext cx="2634386" cy="18882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0411" y="1385316"/>
            <a:ext cx="2395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03 / LONG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0411" y="1705356"/>
            <a:ext cx="239572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1">
                <a:solidFill>
                  <a:srgbClr val="0F172A"/>
                </a:solidFill>
                <a:latin typeface="Arial"/>
              </a:defRPr>
            </a:pPr>
            <a:r>
              <a:t>Measure long-prefill decay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0411" y="2171700"/>
            <a:ext cx="239572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vLLM 0.23 W4A8 PP2</a:t>
            </a:r>
          </a:p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520k prefill slowed late</a:t>
            </a:r>
          </a:p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High hits, slow next-turn decode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096451" y="2135124"/>
            <a:ext cx="219456" cy="10058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34779" y="1248156"/>
            <a:ext cx="2634386" cy="18882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3651" y="1385316"/>
            <a:ext cx="2395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04 / SERVING CHOICES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3651" y="1705356"/>
            <a:ext cx="239572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1">
                <a:solidFill>
                  <a:srgbClr val="0F172A"/>
                </a:solidFill>
                <a:latin typeface="Arial"/>
              </a:defRPr>
            </a:pPr>
            <a:r>
              <a:t>Probe layout and speculation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3651" y="2171700"/>
            <a:ext cx="239572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SGLang TP/PP; dynamic gate</a:t>
            </a:r>
          </a:p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MTP, DFlash2 and DFlash8</a:t>
            </a:r>
          </a:p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Precision and CUDA graph modes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0687507" y="3195828"/>
            <a:ext cx="100584" cy="210312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34779" y="3552444"/>
            <a:ext cx="2634386" cy="18882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3651" y="3689604"/>
            <a:ext cx="2395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05 / LOCAL CONTROLS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3651" y="4009644"/>
            <a:ext cx="239572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1">
                <a:solidFill>
                  <a:srgbClr val="0F172A"/>
                </a:solidFill>
                <a:latin typeface="Arial"/>
              </a:defRPr>
            </a:pPr>
            <a:r>
              <a:t>Check matched candidates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3651" y="4475988"/>
            <a:ext cx="239572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Native 0.28 and 0.30 trials</a:t>
            </a:r>
          </a:p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Legacy verification comparisons</a:t>
            </a:r>
          </a:p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Custom branch later retired</a:t>
            </a:r>
          </a:p>
        </p:txBody>
      </p:sp>
      <p:sp>
        <p:nvSpPr>
          <p:cNvPr id="28" name="Left Arrow 27"/>
          <p:cNvSpPr/>
          <p:nvPr/>
        </p:nvSpPr>
        <p:spPr>
          <a:xfrm>
            <a:off x="9133027" y="4439412"/>
            <a:ext cx="219456" cy="100584"/>
          </a:xfrm>
          <a:prstGeom prst="lef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71539" y="3552444"/>
            <a:ext cx="2634386" cy="188823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0411" y="3689604"/>
            <a:ext cx="2395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66534"/>
                </a:solidFill>
                <a:latin typeface="Arial"/>
              </a:defRPr>
            </a:pPr>
            <a:r>
              <a:t>06 / RETAINED PROFILE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0411" y="4009644"/>
            <a:ext cx="239572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1">
                <a:solidFill>
                  <a:srgbClr val="0F172A"/>
                </a:solidFill>
                <a:latin typeface="Arial"/>
              </a:defRPr>
            </a:pPr>
            <a:r>
              <a:t>Select public upstream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0411" y="4475988"/>
            <a:ext cx="239572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Native vLLM + DFlash2</a:t>
            </a:r>
          </a:p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Nine unchanged public patches</a:t>
            </a:r>
          </a:p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18.6k warm median: 153 tok/s</a:t>
            </a:r>
          </a:p>
        </p:txBody>
      </p:sp>
      <p:sp>
        <p:nvSpPr>
          <p:cNvPr id="33" name="Left Arrow 32"/>
          <p:cNvSpPr/>
          <p:nvPr/>
        </p:nvSpPr>
        <p:spPr>
          <a:xfrm>
            <a:off x="6069787" y="4439412"/>
            <a:ext cx="219456" cy="100584"/>
          </a:xfrm>
          <a:prstGeom prst="lef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08299" y="3552444"/>
            <a:ext cx="2634386" cy="1888236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7171" y="3689604"/>
            <a:ext cx="2395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07 / RECOVERY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7171" y="4009644"/>
            <a:ext cx="239572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1">
                <a:solidFill>
                  <a:srgbClr val="0F172A"/>
                </a:solidFill>
                <a:latin typeface="Arial"/>
              </a:defRPr>
            </a:pPr>
            <a:r>
              <a:t>Restore and reconstruct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7171" y="4475988"/>
            <a:ext cx="239572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Archive restores: 151 / 146</a:t>
            </a:r>
          </a:p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Separate assembly: 145 tok/s</a:t>
            </a:r>
          </a:p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One text-prefix disk reload</a:t>
            </a:r>
          </a:p>
        </p:txBody>
      </p:sp>
      <p:sp>
        <p:nvSpPr>
          <p:cNvPr id="38" name="Left Arrow 37"/>
          <p:cNvSpPr/>
          <p:nvPr/>
        </p:nvSpPr>
        <p:spPr>
          <a:xfrm>
            <a:off x="3006547" y="4439412"/>
            <a:ext cx="219456" cy="100584"/>
          </a:xfrm>
          <a:prstGeom prst="lef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45059" y="3552444"/>
            <a:ext cx="2634386" cy="188823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3931" y="3689604"/>
            <a:ext cx="2395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08 / REUSABLE 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931" y="4009644"/>
            <a:ext cx="239572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1">
                <a:solidFill>
                  <a:srgbClr val="0F172A"/>
                </a:solidFill>
                <a:latin typeface="Arial"/>
              </a:defRPr>
            </a:pPr>
            <a:r>
              <a:t>Share a recoverable recipe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931" y="4475988"/>
            <a:ext cx="239572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Several clients, one server</a:t>
            </a:r>
          </a:p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Disk-prefix reuse after reload</a:t>
            </a:r>
          </a:p>
          <a:p>
            <a:pPr>
              <a:spcAft>
                <a:spcPts val="400"/>
              </a:spcAft>
              <a:defRPr sz="1160" b="0">
                <a:solidFill>
                  <a:srgbClr val="334155"/>
                </a:solidFill>
                <a:latin typeface="Arial"/>
              </a:defRPr>
            </a:pPr>
            <a:r>
              <a:t>Pinned setup + timing records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925312"/>
            <a:ext cx="11338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60" b="0">
                <a:solidFill>
                  <a:srgbClr val="334155"/>
                </a:solidFill>
                <a:latin typeface="Arial"/>
              </a:defRPr>
            </a:pPr>
            <a:r>
              <a:t>Campaigns overlap. Results retain their configurations. Headline: 18,649 actual input tokens, warm prefix, rates include reasoning.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172A"/>
                </a:solidFill>
                <a:latin typeface="Arial"/>
              </a:defRPr>
            </a:pPr>
            <a:r>
              <a:t>Prefill across a real 520k-token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86384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75569"/>
                </a:solidFill>
                <a:latin typeface="Arial"/>
              </a:defRPr>
            </a:pPr>
            <a:r>
              <a:t>vLLM 0.23 W4A8 PP2 | Median completed-batch prefill rate by processed-token range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60120" y="4892040"/>
            <a:ext cx="10835640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4809744"/>
            <a:ext cx="52120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4348129"/>
            <a:ext cx="10835640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7472" y="4265833"/>
            <a:ext cx="52120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500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" y="3804219"/>
            <a:ext cx="10835640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7472" y="3721923"/>
            <a:ext cx="52120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1000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" y="3260308"/>
            <a:ext cx="10835640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7472" y="3178012"/>
            <a:ext cx="52120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1500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2716398"/>
            <a:ext cx="10835640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2634102"/>
            <a:ext cx="52120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2000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2172488"/>
            <a:ext cx="10835640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7472" y="2090192"/>
            <a:ext cx="52120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2500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67750" y="2227955"/>
            <a:ext cx="932688" cy="26640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59774" y="194449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2,449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5454" y="4983479"/>
            <a:ext cx="12801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0-100k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5698" y="3745271"/>
            <a:ext cx="932688" cy="114676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07722" y="346180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1,054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3402" y="4983479"/>
            <a:ext cx="12801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100-200k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3647" y="4145825"/>
            <a:ext cx="932688" cy="74621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5671" y="386236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686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1351" y="4983479"/>
            <a:ext cx="12801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200-300k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11596" y="4336543"/>
            <a:ext cx="932688" cy="55549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3620" y="405307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511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9300" y="4983479"/>
            <a:ext cx="12801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300-400k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9544" y="4434414"/>
            <a:ext cx="932688" cy="4576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51568" y="415095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421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7248" y="4983479"/>
            <a:ext cx="12801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400-450k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7493" y="4473191"/>
            <a:ext cx="932688" cy="41884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9517" y="418972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385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25197" y="4983479"/>
            <a:ext cx="12801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450-500k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55441" y="4497133"/>
            <a:ext cx="932688" cy="39490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47465" y="421366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363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73145" y="4983479"/>
            <a:ext cx="12801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500-520.8k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134416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Input tokens / second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5358384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4155"/>
                </a:solidFill>
                <a:latin typeface="Arial"/>
              </a:defRPr>
            </a:pPr>
            <a:r>
              <a:t>Processed prompt tokens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5769864"/>
            <a:ext cx="11338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60" b="0">
                <a:solidFill>
                  <a:srgbClr val="334155"/>
                </a:solidFill>
                <a:latin typeface="Arial"/>
              </a:defRPr>
            </a:pPr>
            <a:r>
              <a:t>Actual input: 520,761 tokens. First batch excluded. The 3,437 tok/s early window uses a different metric. Source: S038.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172A"/>
                </a:solidFill>
                <a:latin typeface="Arial"/>
              </a:defRPr>
            </a:pPr>
            <a:r>
              <a:t>Same first paper prompt, different SGLang layouts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86384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75569"/>
                </a:solidFill>
                <a:latin typeface="Arial"/>
              </a:defRPr>
            </a:pPr>
            <a:r>
              <a:t>SGLang 0.5.19 + MTP | 5,224 input / 4,096 output tokens | One observation per layout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34440" y="1691640"/>
            <a:ext cx="0" cy="301752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61288" y="4846320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95600" y="1691640"/>
            <a:ext cx="0" cy="301752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822448" y="4846320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56760" y="1691640"/>
            <a:ext cx="0" cy="301752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83608" y="4846320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0" y="1691640"/>
            <a:ext cx="0" cy="301752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44768" y="4846320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30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79080" y="1691640"/>
            <a:ext cx="0" cy="301752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05928" y="4846320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40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40240" y="1691640"/>
            <a:ext cx="0" cy="301752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467088" y="4846320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50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201400" y="1691640"/>
            <a:ext cx="0" cy="301752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128248" y="4846320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2148840"/>
            <a:ext cx="823463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31343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34155"/>
                </a:solidFill>
                <a:latin typeface="Arial"/>
              </a:defRPr>
            </a:pPr>
            <a:r>
              <a:t>TP2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8800" y="232257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49.57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3611880"/>
            <a:ext cx="4811780" cy="594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77647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34155"/>
                </a:solidFill>
                <a:latin typeface="Arial"/>
              </a:defRPr>
            </a:pPr>
            <a:r>
              <a:t>PP2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5948" y="37856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28.97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3492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4155"/>
                </a:solidFill>
                <a:latin typeface="Arial"/>
              </a:defRPr>
            </a:pPr>
            <a:r>
              <a:t>Output tokens / second, including reasoning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788152"/>
            <a:ext cx="11338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60" b="0">
                <a:solidFill>
                  <a:srgbClr val="334155"/>
                </a:solidFill>
                <a:latin typeface="Arial"/>
              </a:defRPr>
            </a:pPr>
            <a:r>
              <a:t>PP2: AWQ W4A16, FP8 KV, historical backports. Complete TP2 launch recovery is unavailable. Source: S016.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172A"/>
                </a:solidFill>
                <a:latin typeface="Arial"/>
              </a:defRPr>
            </a:pPr>
            <a:r>
              <a:t>Repeated measurements of the retained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86384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75569"/>
                </a:solidFill>
                <a:latin typeface="Arial"/>
              </a:defRPr>
            </a:pPr>
            <a:r>
              <a:t>18,649 input / 1,024 output tokens | Three observations per group | Rates include reasoning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018270" y="1691640"/>
            <a:ext cx="2686050" cy="3108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60120" y="4800600"/>
            <a:ext cx="10744200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93192" y="47091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120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0120" y="4178808"/>
            <a:ext cx="10744200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3192" y="408736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130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0120" y="3557015"/>
            <a:ext cx="10744200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93192" y="3465575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140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0120" y="2935224"/>
            <a:ext cx="10744200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3192" y="284378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150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0120" y="2313432"/>
            <a:ext cx="10744200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3192" y="222199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160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0120" y="1691640"/>
            <a:ext cx="10744200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3192" y="160020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170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45944" y="2750506"/>
            <a:ext cx="914401" cy="0"/>
          </a:xfrm>
          <a:prstGeom prst="line">
            <a:avLst/>
          </a:prstGeom>
          <a:ln w="2286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33497" y="266821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60" b="1">
                <a:solidFill>
                  <a:srgbClr val="0F172A"/>
                </a:solidFill>
                <a:latin typeface="Arial"/>
              </a:defRPr>
            </a:pPr>
            <a:r>
              <a:t>152.97</a:t>
            </a:r>
          </a:p>
        </p:txBody>
      </p:sp>
      <p:sp>
        <p:nvSpPr>
          <p:cNvPr id="19" name="Oval 18"/>
          <p:cNvSpPr/>
          <p:nvPr/>
        </p:nvSpPr>
        <p:spPr>
          <a:xfrm>
            <a:off x="1935556" y="2693814"/>
            <a:ext cx="113385" cy="11338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6452" y="2311955"/>
            <a:ext cx="113385" cy="11338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57348" y="3000877"/>
            <a:ext cx="113385" cy="11338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5904" y="496519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4155"/>
                </a:solidFill>
                <a:latin typeface="Arial"/>
              </a:defRPr>
            </a:pPr>
            <a:r>
              <a:t>Archived</a:t>
            </a:r>
          </a:p>
          <a:p>
            <a:pPr>
              <a:spcAft>
                <a:spcPts val="400"/>
              </a:spcAft>
              <a:defRPr sz="1200" b="0">
                <a:solidFill>
                  <a:srgbClr val="334155"/>
                </a:solidFill>
                <a:latin typeface="Arial"/>
              </a:defRPr>
            </a:pPr>
            <a:r>
              <a:t>selection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31995" y="2887527"/>
            <a:ext cx="914400" cy="0"/>
          </a:xfrm>
          <a:prstGeom prst="line">
            <a:avLst/>
          </a:prstGeom>
          <a:ln w="2286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519547" y="2805231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60" b="1">
                <a:solidFill>
                  <a:srgbClr val="0F172A"/>
                </a:solidFill>
                <a:latin typeface="Arial"/>
              </a:defRPr>
            </a:pPr>
            <a:r>
              <a:t>150.77</a:t>
            </a:r>
          </a:p>
        </p:txBody>
      </p:sp>
      <p:sp>
        <p:nvSpPr>
          <p:cNvPr id="25" name="Oval 24"/>
          <p:cNvSpPr/>
          <p:nvPr/>
        </p:nvSpPr>
        <p:spPr>
          <a:xfrm>
            <a:off x="4621606" y="2830834"/>
            <a:ext cx="113385" cy="113385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932502" y="3333854"/>
            <a:ext cx="113385" cy="113385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43398" y="2203872"/>
            <a:ext cx="113385" cy="113385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1955" y="496519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4155"/>
                </a:solidFill>
                <a:latin typeface="Arial"/>
              </a:defRPr>
            </a:pPr>
            <a:r>
              <a:t>Archive</a:t>
            </a:r>
          </a:p>
          <a:p>
            <a:pPr>
              <a:spcAft>
                <a:spcPts val="400"/>
              </a:spcAft>
              <a:defRPr sz="1200" b="0">
                <a:solidFill>
                  <a:srgbClr val="334155"/>
                </a:solidFill>
                <a:latin typeface="Arial"/>
              </a:defRPr>
            </a:pPr>
            <a:r>
              <a:t>restoration 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218045" y="3214832"/>
            <a:ext cx="914400" cy="0"/>
          </a:xfrm>
          <a:prstGeom prst="line">
            <a:avLst/>
          </a:prstGeom>
          <a:ln w="2286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05597" y="313253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60" b="1">
                <a:solidFill>
                  <a:srgbClr val="0F172A"/>
                </a:solidFill>
                <a:latin typeface="Arial"/>
              </a:defRPr>
            </a:pPr>
            <a:r>
              <a:t>145.50</a:t>
            </a:r>
          </a:p>
        </p:txBody>
      </p:sp>
      <p:sp>
        <p:nvSpPr>
          <p:cNvPr id="31" name="Oval 30"/>
          <p:cNvSpPr/>
          <p:nvPr/>
        </p:nvSpPr>
        <p:spPr>
          <a:xfrm>
            <a:off x="7307656" y="4198852"/>
            <a:ext cx="113385" cy="113385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18552" y="3009189"/>
            <a:ext cx="113385" cy="113385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29448" y="3158140"/>
            <a:ext cx="113385" cy="113385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98005" y="496519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4155"/>
                </a:solidFill>
                <a:latin typeface="Arial"/>
              </a:defRPr>
            </a:pPr>
            <a:r>
              <a:t>Archive</a:t>
            </a:r>
          </a:p>
          <a:p>
            <a:pPr>
              <a:spcAft>
                <a:spcPts val="400"/>
              </a:spcAft>
              <a:defRPr sz="1200" b="0">
                <a:solidFill>
                  <a:srgbClr val="334155"/>
                </a:solidFill>
                <a:latin typeface="Arial"/>
              </a:defRPr>
            </a:pPr>
            <a:r>
              <a:t>restoration 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904095" y="3267541"/>
            <a:ext cx="914400" cy="0"/>
          </a:xfrm>
          <a:prstGeom prst="line">
            <a:avLst/>
          </a:prstGeom>
          <a:ln w="2286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891647" y="3185245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60" b="1">
                <a:solidFill>
                  <a:srgbClr val="0F172A"/>
                </a:solidFill>
                <a:latin typeface="Arial"/>
              </a:defRPr>
            </a:pPr>
            <a:r>
              <a:t>144.66</a:t>
            </a:r>
          </a:p>
        </p:txBody>
      </p:sp>
      <p:sp>
        <p:nvSpPr>
          <p:cNvPr id="37" name="Oval 36"/>
          <p:cNvSpPr/>
          <p:nvPr/>
        </p:nvSpPr>
        <p:spPr>
          <a:xfrm>
            <a:off x="9993706" y="3210849"/>
            <a:ext cx="113385" cy="113385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04602" y="3188338"/>
            <a:ext cx="113385" cy="113385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15498" y="3968327"/>
            <a:ext cx="113385" cy="113385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84055" y="496519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4155"/>
                </a:solidFill>
                <a:latin typeface="Arial"/>
              </a:defRPr>
            </a:pPr>
            <a:r>
              <a:t>Separate public</a:t>
            </a:r>
          </a:p>
          <a:p>
            <a:pPr>
              <a:spcAft>
                <a:spcPts val="400"/>
              </a:spcAft>
              <a:defRPr sz="1200" b="0">
                <a:solidFill>
                  <a:srgbClr val="334155"/>
                </a:solidFill>
                <a:latin typeface="Arial"/>
              </a:defRPr>
            </a:pPr>
            <a:r>
              <a:t>script assembly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130759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Output tokens / second, including reasoning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715000"/>
            <a:ext cx="113385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60" b="0">
                <a:solidFill>
                  <a:srgbClr val="334155"/>
                </a:solidFill>
                <a:latin typeface="Arial"/>
              </a:defRPr>
            </a:pPr>
            <a:r>
              <a:t>Dots: individual runs. Black segments: medians. First three groups: 17,920 prefix hits. Separate assembly: 16,128 hits, 10.5 GiB KV/card.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Dual-3090 Qwen exploration figures</dc:title>
  <dc:subject/>
  <dc:creator>YYTbit</dc:creator>
  <cp:keywords/>
  <dc:description>generated using python-pptx</dc:description>
  <cp:lastModifiedBy>YYTbit</cp:lastModifiedBy>
  <cp:revision>1</cp:revision>
  <dcterms:created xsi:type="dcterms:W3CDTF">2013-01-27T09:14:16Z</dcterms:created>
  <dcterms:modified xsi:type="dcterms:W3CDTF">2013-01-27T09:15:58Z</dcterms:modified>
  <cp:category/>
</cp:coreProperties>
</file>