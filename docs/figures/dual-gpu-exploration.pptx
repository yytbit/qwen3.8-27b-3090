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252960" cy="6400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0F172A"/>
                </a:solidFill>
                <a:latin typeface="Arial"/>
              </a:defRPr>
            </a:pPr>
            <a:r>
              <a:t>Dual-GPU Evaluation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8638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Arial"/>
              </a:defRPr>
            </a:pPr>
            <a:r>
              <a:t>Engine compatibility, context scaling, speculative decoding and deployment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5059" y="1248156"/>
            <a:ext cx="2634386" cy="18882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3931" y="1385316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01 / WORKLOAD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3931" y="1705356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Workload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931" y="2171700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Resumed Claude Code sessions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Image and tool content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Shared inference service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69971" y="2135124"/>
            <a:ext cx="219456" cy="10058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08299" y="1248156"/>
            <a:ext cx="2634386" cy="18882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7171" y="1385316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02 / GGUF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7171" y="1705356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GGUF Compatibility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7171" y="2171700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llama.cpp Q4_K_M trials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Near-1M configured limits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Allocation and timing records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33211" y="2135124"/>
            <a:ext cx="219456" cy="10058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1539" y="1248156"/>
            <a:ext cx="2634386" cy="18882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0411" y="1385316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03 / PREFILL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0411" y="1705356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Long-Context Prefill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0411" y="2171700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vLLM 0.23 W4A8 PP2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520k context scaling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Prefix reuse and decode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96451" y="2135124"/>
            <a:ext cx="219456" cy="10058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34779" y="1248156"/>
            <a:ext cx="2634386" cy="18882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3651" y="1385316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04 / PARALLELISM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3651" y="1705356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Parallelism and Drafting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3651" y="2171700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SGLang TP/PP and chunking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MTP, DFlash2 and DFlash8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Precision and CUDA graphs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687507" y="3195828"/>
            <a:ext cx="100584" cy="21031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34779" y="3552444"/>
            <a:ext cx="2634386" cy="18882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3651" y="3689604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05 /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3651" y="4009644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Verification Kernels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3651" y="4475988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Native 0.28 and 0.30 trials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Matched kernel comparisons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Archived experimental branch</a:t>
            </a:r>
          </a:p>
        </p:txBody>
      </p:sp>
      <p:sp>
        <p:nvSpPr>
          <p:cNvPr id="28" name="Left Arrow 27"/>
          <p:cNvSpPr/>
          <p:nvPr/>
        </p:nvSpPr>
        <p:spPr>
          <a:xfrm>
            <a:off x="9133027" y="4439412"/>
            <a:ext cx="219456" cy="100584"/>
          </a:xfrm>
          <a:prstGeom prst="lef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71539" y="3552444"/>
            <a:ext cx="2634386" cy="1888236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0411" y="3689604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66534"/>
                </a:solidFill>
                <a:latin typeface="Arial"/>
              </a:defRPr>
            </a:pPr>
            <a:r>
              <a:t>06 / CONFIGURATION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0411" y="4009644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Selected 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0411" y="4475988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Native vLLM + DFlash2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Nine unchanged public patches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18.6k warm median: 153 tok/s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6069787" y="4439412"/>
            <a:ext cx="219456" cy="100584"/>
          </a:xfrm>
          <a:prstGeom prst="lef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308299" y="3552444"/>
            <a:ext cx="2634386" cy="1888236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7171" y="3689604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07 / REPRODUCIBILITY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7171" y="4009644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Restoration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7171" y="4475988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Archive restores: 151 / 146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Separate assembly: 145 tok/s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Text-prefix disk recovery</a:t>
            </a:r>
          </a:p>
        </p:txBody>
      </p:sp>
      <p:sp>
        <p:nvSpPr>
          <p:cNvPr id="38" name="Left Arrow 37"/>
          <p:cNvSpPr/>
          <p:nvPr/>
        </p:nvSpPr>
        <p:spPr>
          <a:xfrm>
            <a:off x="3006547" y="4439412"/>
            <a:ext cx="219456" cy="100584"/>
          </a:xfrm>
          <a:prstGeom prst="lef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45059" y="3552444"/>
            <a:ext cx="2634386" cy="188823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931" y="3689604"/>
            <a:ext cx="2395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08 / DEPLOYMENT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931" y="4009644"/>
            <a:ext cx="239572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20" b="1">
                <a:solidFill>
                  <a:srgbClr val="0F172A"/>
                </a:solidFill>
                <a:latin typeface="Arial"/>
              </a:defRPr>
            </a:pPr>
            <a:r>
              <a:t>Client Integration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931" y="4475988"/>
            <a:ext cx="2395728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Multiple clients, one server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Persistent prefix storage</a:t>
            </a:r>
          </a:p>
          <a:p>
            <a:pPr>
              <a:spcAft>
                <a:spcPts val="400"/>
              </a:spcAft>
              <a:defRPr sz="1160" b="0">
                <a:solidFill>
                  <a:srgbClr val="334155"/>
                </a:solidFill>
                <a:latin typeface="Arial"/>
              </a:defRPr>
            </a:pPr>
            <a:r>
              <a:t>Pinned setup and measurements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925312"/>
            <a:ext cx="113385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60" b="0">
                <a:solidFill>
                  <a:srgbClr val="334155"/>
                </a:solidFill>
                <a:latin typeface="Arial"/>
              </a:defRPr>
            </a:pPr>
            <a:r>
              <a:t>Campaigns overlap. Results retain their configurations. Headline: 18,649 actual input tokens, warm prefix, rates include reasoning.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0F172A"/>
                </a:solidFill>
                <a:latin typeface="Arial"/>
              </a:defRPr>
            </a:pPr>
            <a:r>
              <a:t>Long-Context Prefill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8638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Arial"/>
              </a:defRPr>
            </a:pPr>
            <a:r>
              <a:t>vLLM 0.23 W4A8 PP2 | Median completed-batch prefill rate by processed-token range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0120" y="4892040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4809744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4348129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7472" y="4265833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500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0120" y="3804219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7472" y="3721923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1000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" y="3260308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" y="3178012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1500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2716398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472" y="2634102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2000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0120" y="2172488"/>
            <a:ext cx="1083564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7472" y="2090192"/>
            <a:ext cx="521207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2500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67750" y="2227955"/>
            <a:ext cx="932688" cy="26640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59774" y="1944491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2,449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5454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0-100k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5698" y="3745271"/>
            <a:ext cx="932688" cy="114676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7722" y="346180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1,054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3402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100-200k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3647" y="4145825"/>
            <a:ext cx="932688" cy="74621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5671" y="3862361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686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1351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200-300k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11596" y="4336543"/>
            <a:ext cx="932688" cy="55549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3620" y="405307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511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300-400k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9544" y="4434414"/>
            <a:ext cx="932688" cy="457625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1568" y="415095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7248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400-450k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7493" y="4473191"/>
            <a:ext cx="932688" cy="41884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99517" y="418972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385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5197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450-500k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55441" y="4497133"/>
            <a:ext cx="932688" cy="39490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47465" y="421366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Arial"/>
              </a:defRPr>
            </a:pPr>
            <a:r>
              <a:t>363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73145" y="4983479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500-520.8k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1344168"/>
            <a:ext cx="45720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0">
                <a:solidFill>
                  <a:srgbClr val="334155"/>
                </a:solidFill>
                <a:latin typeface="Arial"/>
              </a:defRPr>
            </a:pPr>
            <a:r>
              <a:t>Input tokens / second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5358384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Processed prompt tokens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769864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60" b="0">
                <a:solidFill>
                  <a:srgbClr val="334155"/>
                </a:solidFill>
                <a:latin typeface="Arial"/>
              </a:defRPr>
            </a:pPr>
            <a:r>
              <a:t>Actual input: 520,761 tokens. First batch excluded. The 3,437 tok/s early window uses a different metric. Source: S038.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0F172A"/>
                </a:solidFill>
                <a:latin typeface="Arial"/>
              </a:defRPr>
            </a:pPr>
            <a:r>
              <a:t>SGLang Parallelism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8638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Arial"/>
              </a:defRPr>
            </a:pPr>
            <a:r>
              <a:t>SGLang 0.5.19 + MTP | 5,224 input / 4,096 output tokens | One observation per layout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3444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6128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9560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82244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5676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360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1792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14476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30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7908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0592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40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024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6708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50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201400" y="1691640"/>
            <a:ext cx="0" cy="301752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128248" y="4846320"/>
            <a:ext cx="4572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4155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148840"/>
            <a:ext cx="8234632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3134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34155"/>
                </a:solidFill>
                <a:latin typeface="Arial"/>
              </a:defRPr>
            </a:pPr>
            <a:r>
              <a:t>TP2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8800" y="23225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49.57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3611880"/>
            <a:ext cx="4811780" cy="594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77647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34155"/>
                </a:solidFill>
                <a:latin typeface="Arial"/>
              </a:defRPr>
            </a:pPr>
            <a:r>
              <a:t>PP2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5948" y="37856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28.97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3492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Output tokens / second, including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788152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60" b="0">
                <a:solidFill>
                  <a:srgbClr val="334155"/>
                </a:solidFill>
                <a:latin typeface="Arial"/>
              </a:defRPr>
            </a:pPr>
            <a:r>
              <a:t>PP2: AWQ W4A16, FP8 KV, historical backports. Complete TP2 launch recovery is unavailable. Source: S016.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0F172A"/>
                </a:solidFill>
                <a:latin typeface="Arial"/>
              </a:defRPr>
            </a:pPr>
            <a:r>
              <a:t>Archive Restoration and Reconstruction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86384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475569"/>
                </a:solidFill>
                <a:latin typeface="Arial"/>
              </a:defRPr>
            </a:pPr>
            <a:r>
              <a:t>18,649 input / 1,024 output tokens | Three observations per group | Rates include reasoning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018270" y="1691640"/>
            <a:ext cx="2686050" cy="3108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60120" y="4800600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93192" y="47091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120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4178808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3192" y="408736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3557015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93192" y="3465575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0120" y="2935224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93192" y="284378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0120" y="2313432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93192" y="222199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160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0120" y="1691640"/>
            <a:ext cx="10744200" cy="0"/>
          </a:xfrm>
          <a:prstGeom prst="line">
            <a:avLst/>
          </a:prstGeom>
          <a:ln w="889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192" y="160020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34155"/>
                </a:solidFill>
                <a:latin typeface="Arial"/>
              </a:defRPr>
            </a:pPr>
            <a:r>
              <a:t>170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45944" y="2750506"/>
            <a:ext cx="914401" cy="0"/>
          </a:xfrm>
          <a:prstGeom prst="line">
            <a:avLst/>
          </a:prstGeom>
          <a:ln w="2286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3497" y="266821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60" b="1">
                <a:solidFill>
                  <a:srgbClr val="0F172A"/>
                </a:solidFill>
                <a:latin typeface="Arial"/>
              </a:defRPr>
            </a:pPr>
            <a:r>
              <a:t>152.97</a:t>
            </a:r>
          </a:p>
        </p:txBody>
      </p:sp>
      <p:sp>
        <p:nvSpPr>
          <p:cNvPr id="19" name="Oval 18"/>
          <p:cNvSpPr/>
          <p:nvPr/>
        </p:nvSpPr>
        <p:spPr>
          <a:xfrm>
            <a:off x="1935556" y="2693814"/>
            <a:ext cx="113385" cy="113385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46452" y="2311955"/>
            <a:ext cx="113385" cy="113385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57348" y="3000877"/>
            <a:ext cx="113385" cy="113385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25904" y="496519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Archived</a:t>
            </a:r>
          </a:p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selection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31995" y="2887527"/>
            <a:ext cx="914400" cy="0"/>
          </a:xfrm>
          <a:prstGeom prst="line">
            <a:avLst/>
          </a:prstGeom>
          <a:ln w="2286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519547" y="2805231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60" b="1">
                <a:solidFill>
                  <a:srgbClr val="0F172A"/>
                </a:solidFill>
                <a:latin typeface="Arial"/>
              </a:defRPr>
            </a:pPr>
            <a:r>
              <a:t>150.77</a:t>
            </a:r>
          </a:p>
        </p:txBody>
      </p:sp>
      <p:sp>
        <p:nvSpPr>
          <p:cNvPr id="25" name="Oval 24"/>
          <p:cNvSpPr/>
          <p:nvPr/>
        </p:nvSpPr>
        <p:spPr>
          <a:xfrm>
            <a:off x="4621606" y="2830834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32502" y="3333854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243398" y="2203872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11955" y="496519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Archive</a:t>
            </a:r>
          </a:p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restoration 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218045" y="3214832"/>
            <a:ext cx="914400" cy="0"/>
          </a:xfrm>
          <a:prstGeom prst="line">
            <a:avLst/>
          </a:prstGeom>
          <a:ln w="2286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05597" y="313253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60" b="1">
                <a:solidFill>
                  <a:srgbClr val="0F172A"/>
                </a:solidFill>
                <a:latin typeface="Arial"/>
              </a:defRPr>
            </a:pPr>
            <a:r>
              <a:t>145.50</a:t>
            </a:r>
          </a:p>
        </p:txBody>
      </p:sp>
      <p:sp>
        <p:nvSpPr>
          <p:cNvPr id="31" name="Oval 30"/>
          <p:cNvSpPr/>
          <p:nvPr/>
        </p:nvSpPr>
        <p:spPr>
          <a:xfrm>
            <a:off x="7307656" y="4198852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18552" y="3009189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29448" y="3158140"/>
            <a:ext cx="113385" cy="113385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8005" y="496519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Archive</a:t>
            </a:r>
          </a:p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restoration 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04095" y="3267541"/>
            <a:ext cx="914400" cy="0"/>
          </a:xfrm>
          <a:prstGeom prst="line">
            <a:avLst/>
          </a:prstGeom>
          <a:ln w="2286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891647" y="3185245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60" b="1">
                <a:solidFill>
                  <a:srgbClr val="0F172A"/>
                </a:solidFill>
                <a:latin typeface="Arial"/>
              </a:defRPr>
            </a:pPr>
            <a:r>
              <a:t>144.66</a:t>
            </a:r>
          </a:p>
        </p:txBody>
      </p:sp>
      <p:sp>
        <p:nvSpPr>
          <p:cNvPr id="37" name="Oval 36"/>
          <p:cNvSpPr/>
          <p:nvPr/>
        </p:nvSpPr>
        <p:spPr>
          <a:xfrm>
            <a:off x="9993706" y="3210849"/>
            <a:ext cx="113385" cy="11338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304602" y="3188338"/>
            <a:ext cx="113385" cy="11338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15498" y="3968327"/>
            <a:ext cx="113385" cy="113385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84055" y="496519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Separate public</a:t>
            </a:r>
          </a:p>
          <a:p>
            <a:pPr>
              <a:spcAft>
                <a:spcPts val="4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script assembly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1307592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0">
                <a:solidFill>
                  <a:srgbClr val="334155"/>
                </a:solidFill>
                <a:latin typeface="Arial"/>
              </a:defRPr>
            </a:pPr>
            <a:r>
              <a:t>Output tokens / second, including 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715000"/>
            <a:ext cx="113385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60" b="0">
                <a:solidFill>
                  <a:srgbClr val="334155"/>
                </a:solidFill>
                <a:latin typeface="Arial"/>
              </a:defRPr>
            </a:pPr>
            <a:r>
              <a:t>Dots: individual runs. Black segments: medians. First three groups: 17,920 prefix hits. Separate assembly: 16,128 hits, 10.5 GiB KV/card.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Qwen3.8-27B Dual-GPU Performance Evaluation</dc:title>
  <dc:subject/>
  <dc:creator>YYTbit</dc:creator>
  <cp:keywords/>
  <dc:description>generated using python-pptx</dc:description>
  <cp:lastModifiedBy>YYTbit</cp:lastModifiedBy>
  <cp:revision>1</cp:revision>
  <dcterms:created xsi:type="dcterms:W3CDTF">2013-01-27T09:14:16Z</dcterms:created>
  <dcterms:modified xsi:type="dcterms:W3CDTF">2013-01-27T09:15:58Z</dcterms:modified>
  <cp:category/>
</cp:coreProperties>
</file>